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India processes billions of UPI transactions monthly; fraud losses hit ₹1000+ Cr/year and users discover theft after payment.</a:t>
            </a:r>
          </a:p>
          <a:p/>
          <a:p>
            <a:r>
              <a:t>[T — Task] Hook judges with a product that feels production-grade, not a weekend wrapper.</a:t>
            </a:r>
          </a:p>
          <a:p/>
          <a:p>
            <a:r>
              <a:t>[A — Action] Introduce SmartSpend: React + FastAPI + PostgreSQL with 12-phase fraud pipeline and unified dark UI.</a:t>
            </a:r>
          </a:p>
          <a:p/>
          <a:p>
            <a:r>
              <a:t>[R — Result] Judges should feel: this team ships real fintech intelligence, not a ChatGPT skin.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RBI and NPCI report rising digital payment fraud; users trust UPI but fear unknown VPA collect requests.</a:t>
            </a:r>
          </a:p>
          <a:p/>
          <a:p>
            <a:r>
              <a:t>[T — Task] Frame the problem judges recognize from news and personal experience.</a:t>
            </a:r>
          </a:p>
          <a:p/>
          <a:p>
            <a:r>
              <a:t>[A — Action] Three-column pain map: post-factum fraud, raw data dumps, behavioral blind spots.</a:t>
            </a:r>
          </a:p>
          <a:p/>
          <a:p>
            <a:r>
              <a:t>[R — Result] Sets up SmartSpend as proactive protection + explainable intelligence, not another expense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Hackathon teams often demo dashboards; judges ask 'so what?'</a:t>
            </a:r>
          </a:p>
          <a:p/>
          <a:p>
            <a:r>
              <a:t>[T — Task] State the explicit engineering goal: proactive fraud + grounded AI + Indian context.</a:t>
            </a:r>
          </a:p>
          <a:p/>
          <a:p>
            <a:r>
              <a:t>[A — Action] Left: four concrete deliverables. Right: measurable outcomes for users and judges.</a:t>
            </a:r>
          </a:p>
          <a:p/>
          <a:p>
            <a:r>
              <a:t>[R — Result] Transitions to live product map — proof we built the mission, not slideware.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Most apps show charts; few connect risk, planning, and chat to the same ledger.</a:t>
            </a:r>
          </a:p>
          <a:p/>
          <a:p>
            <a:r>
              <a:t>[T — Task] Show the product is a full stack, not a frontend mock.</a:t>
            </a:r>
          </a:p>
          <a:p/>
          <a:p>
            <a:r>
              <a:t>[A — Action] Walk the data loop: DB → API → ML → UI. Point at live ticker on screenshot.</a:t>
            </a:r>
          </a:p>
          <a:p/>
          <a:p>
            <a:r>
              <a:t>[R — Result] Judge takeaway: end-to-end system ready to demo at localhost:3000.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Judges compare you to CRED/Jupiter — need a clear feature inventory.</a:t>
            </a:r>
          </a:p>
          <a:p/>
          <a:p>
            <a:r>
              <a:t>[T — Task] Prove breadth without buzzwords: every sidebar tab is implemented.</a:t>
            </a:r>
          </a:p>
          <a:p/>
          <a:p>
            <a:r>
              <a:t>[A — Action] 8-card map aligned to App.jsx navigation groups.</a:t>
            </a:r>
          </a:p>
          <a:p/>
          <a:p>
            <a:r>
              <a:t>[R — Result] Result: one unified experience — footer tagline — not scattered micro-tools.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UPI fraud is pattern-specific; generic LLMs hallucinate risk scores.</a:t>
            </a:r>
          </a:p>
          <a:p/>
          <a:p>
            <a:r>
              <a:t>[T — Task] Differentiate from wrappers: show four distinct model roles.</a:t>
            </a:r>
          </a:p>
          <a:p/>
          <a:p>
            <a:r>
              <a:t>[A — Action] Name production artifact fraud-xgboost-v0; mention GNN GraphSAGE and DNN shadow path.</a:t>
            </a:r>
          </a:p>
          <a:p/>
          <a:p>
            <a:r>
              <a:t>[R — Result] Judge believes: rigorous stack; LLM only investigates borderline cases (Phase 9/12).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Banks run batch fraud; users need instant pre-payment guidance.</a:t>
            </a:r>
          </a:p>
          <a:p/>
          <a:p>
            <a:r>
              <a:t>[T — Task] Explain both automatic pipeline (phases 1-8) and user-facing checker.</a:t>
            </a:r>
          </a:p>
          <a:p/>
          <a:p>
            <a:r>
              <a:t>[A — Action] Walk left-to-right on diagram; offer 2-min live demo after this slide.</a:t>
            </a:r>
          </a:p>
          <a:p/>
          <a:p>
            <a:r>
              <a:t>[R — Result] Result: 12 layers shipped in codebase (migrations + routes per phase).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Users ask 'why did I overspend?' — generic chatbots guess.</a:t>
            </a:r>
          </a:p>
          <a:p/>
          <a:p>
            <a:r>
              <a:t>[T — Task] Deliver trustworthy answers tied to their ledger.</a:t>
            </a:r>
          </a:p>
          <a:p/>
          <a:p>
            <a:r>
              <a:t>[A — Action] Explain context packet + ROUTE navigation + graceful degradation without API keys.</a:t>
            </a:r>
          </a:p>
          <a:p/>
          <a:p>
            <a:r>
              <a:t>[R — Result] Result: demo ask a question in Hindi; show cited merchants/categories from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India's subscription economy exploded post-UPI autopay; users forget mandates.</a:t>
            </a:r>
          </a:p>
          <a:p/>
          <a:p>
            <a:r>
              <a:t>[T — Task] Stop silent bleed — second pillar after fraud.</a:t>
            </a:r>
          </a:p>
          <a:p/>
          <a:p>
            <a:r>
              <a:t>[A — Action] Walk connect → hub → AI analysis engines in App.jsx subscriptions sub-views.</a:t>
            </a:r>
          </a:p>
          <a:p/>
          <a:p>
            <a:r>
              <a:t>[R — Result] Quantify savings narrative even if demo uses seeded subscriptions.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Indian apps use ₹1 trials and EMI nudges; users need pattern literacy.</a:t>
            </a:r>
          </a:p>
          <a:p/>
          <a:p>
            <a:r>
              <a:t>[T — Task] Show non-fraud intelligence — holistic financial OS.</a:t>
            </a:r>
          </a:p>
          <a:p/>
          <a:p>
            <a:r>
              <a:t>[A — Action] Each module: rule/ML backend + dedicated React surface.</a:t>
            </a:r>
          </a:p>
          <a:p/>
          <a:p>
            <a:r>
              <a:t>[R — Result] Result: dashboard becomes command center, not just FraudShield.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Global PFM apps miss festival spikes and joint family spending.</a:t>
            </a:r>
          </a:p>
          <a:p/>
          <a:p>
            <a:r>
              <a:t>[T — Task] Prove India-first product thinking beyond fraud.</a:t>
            </a:r>
          </a:p>
          <a:p/>
          <a:p>
            <a:r>
              <a:t>[A — Action] Three planners pull from same PostgreSQL transaction history.</a:t>
            </a:r>
          </a:p>
          <a:p/>
          <a:p>
            <a:r>
              <a:t>[R — Result] Result: Priya persona (family head) has a reason to adopt beyond FraudShield.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Judges will ask about scale, privacy, and deployment.</a:t>
            </a:r>
          </a:p>
          <a:p/>
          <a:p>
            <a:r>
              <a:t>[T — Task] Show honest architecture — monolith API, real DB, optional AI keys.</a:t>
            </a:r>
          </a:p>
          <a:p/>
          <a:p>
            <a:r>
              <a:t>[A — Action] Walk diagram; mention MLflow fraud-xgboost-v0 and Redis feature store.</a:t>
            </a:r>
          </a:p>
          <a:p/>
          <a:p>
            <a:r>
              <a:t>[R — Result] Result: credible path to Account Aggregator + mobile apps (roadmap).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CRED/Jupiter optimize rewards; judges ask what your moat is.</a:t>
            </a:r>
          </a:p>
          <a:p/>
          <a:p>
            <a:r>
              <a:t>[T — Task] Answer defensibility before Q&amp;A.</a:t>
            </a:r>
          </a:p>
          <a:p/>
          <a:p>
            <a:r>
              <a:t>[A — Action] Four quadrants — moat is depth of fraud stack + India data + graph + grounded numbers.</a:t>
            </a:r>
          </a:p>
          <a:p/>
          <a:p>
            <a:r>
              <a:t>[R — Result] Result: differentiated from 'ChatGPT + finance UI' accusation.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Hackathon teams fake 99% accuracy; judges with ML background spot it.</a:t>
            </a:r>
          </a:p>
          <a:p/>
          <a:p>
            <a:r>
              <a:t>[T — Task] Show receipts from AIPerformance.jsx / trained pickle metrics.</a:t>
            </a:r>
          </a:p>
          <a:p/>
          <a:p>
            <a:r>
              <a:t>[A — Action] Explain PR-AUC context for imbalance; PSI 0.05 = stable production model.</a:t>
            </a:r>
          </a:p>
          <a:p/>
          <a:p>
            <a:r>
              <a:t>[R — Result] Result: credibility — invite judges to Admin → AI Performance screen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Judges decide in 10 seconds if UI is hackathon-grade or fundable.</a:t>
            </a:r>
          </a:p>
          <a:p/>
          <a:p>
            <a:r>
              <a:t>[T — Task] Design is trust signal for a money app.</a:t>
            </a:r>
          </a:p>
          <a:p/>
          <a:p>
            <a:r>
              <a:t>[A — Action] Point to design tokens: gray hierarchy, aurora background, command palette.</a:t>
            </a:r>
          </a:p>
          <a:p/>
          <a:p>
            <a:r>
              <a:t>[R — Result] Result: passes the 'would I enter my bank data?' sniff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PM judges want market fit, not only tech.</a:t>
            </a:r>
          </a:p>
          <a:p/>
          <a:p>
            <a:r>
              <a:t>[T — Task] Map features to real Indian user segments.</a:t>
            </a:r>
          </a:p>
          <a:p/>
          <a:p>
            <a:r>
              <a:t>[A — Action] 60 seconds: one sentence each on Vikram, Priya, Arjun STAR lines on slide.</a:t>
            </a:r>
          </a:p>
          <a:p/>
          <a:p>
            <a:r>
              <a:t>[R — Result] Result: TAM story — 800M digital banking users, three entry wedges.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Judges ask 'what after hackathon?' and 'how do you make money?'</a:t>
            </a:r>
          </a:p>
          <a:p/>
          <a:p>
            <a:r>
              <a:t>[T — Task] Show roadmap discipline — 12 done, 8 planned parity phases.</a:t>
            </a:r>
          </a:p>
          <a:p/>
          <a:p>
            <a:r>
              <a:t>[A — Action] Timeline: AA integration, mobile, B2B API monetization.</a:t>
            </a:r>
          </a:p>
          <a:p/>
          <a:p>
            <a:r>
              <a:t>[R — Result] Result: team has vision beyond demo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 — Situation] Full deck STAR result: from Indian fraud crisis to shipped intelligence platform.</a:t>
            </a:r>
          </a:p>
          <a:p/>
          <a:p>
            <a:r>
              <a:t>[T — Task] Ask: try the demo, scan QR, open FraudShield quick-test.</a:t>
            </a:r>
          </a:p>
          <a:p/>
          <a:p>
            <a:r>
              <a:t>[A — Action] Rehearse 30-second close: problem → 12 phases → metrics → live URL.</a:t>
            </a:r>
          </a:p>
          <a:p/>
          <a:p>
            <a:r>
              <a:t>[R — Result] Leave judges wanting to tap localhost:3000 before next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SmartSpend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D1D5DB"/>
                </a:solidFill>
                <a:latin typeface="Calibri"/>
              </a:defRPr>
            </a:pPr>
            <a:r>
              <a:t>Financial intelligence for India — before money leaves your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Exiqo · Hackathon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S→T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₹1 traps, UPI collect scams, and silent subscription bleed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Three gaps every Indian digital banker feels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34747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Calibri"/>
              </a:defRPr>
            </a:pPr>
            <a:r>
              <a:t>Reactive fraud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15468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Money leaves first.</a:t>
            </a:r>
            <a:br/>
            <a:r>
              <a:t>• Banks alert after loss.</a:t>
            </a:r>
            <a:br/>
            <a:r>
              <a:t>• No pre-send verdict.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520440" cy="34747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Data without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315468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PDFs and exports.</a:t>
            </a:r>
            <a:br/>
            <a:r>
              <a:t>• No health score or EMI risk.</a:t>
            </a:r>
            <a:br/>
            <a:r>
              <a:t>• No actionable next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828800"/>
            <a:ext cx="3520440" cy="34747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9659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Low self-awareness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331720"/>
            <a:ext cx="315468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Festival spikes, dark patterns,</a:t>
            </a:r>
            <a:br/>
            <a:r>
              <a:t>• unused subscriptions — invisible</a:t>
            </a:r>
            <a:br/>
            <a:r>
              <a:t>• until the statement arrives.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Our task: decisions before payment, not regrets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Mission — one platform, one truth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What we set out to 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9377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Score every transaction with ML in &lt;50ms</a:t>
            </a:r>
            <a:br/>
            <a:r>
              <a:t>• Let users ask AI only over real DB rows</a:t>
            </a:r>
            <a:br/>
            <a:r>
              <a:t>• Surface India-specific risks: UPI, EMI, festivals, RBI patterns</a:t>
            </a:r>
            <a:br/>
            <a:r>
              <a:t>• Unify fraud, spend, subscriptions in one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384048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What 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9377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Pre-send FraudShield verdict on any payment</a:t>
            </a:r>
            <a:br/>
            <a:r>
              <a:t>• Health score + anomaly flags on dashboard</a:t>
            </a:r>
            <a:br/>
            <a:r>
              <a:t>• Honest metrics (ROC-AUC, PSI) in production UI</a:t>
            </a:r>
            <a:br/>
            <a:r>
              <a:t>• Product polish judges trust instantly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SmartSpend: from PostgreSQL rows to financial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React 18 · FastAPI · PostgreSQL · Redis · MLflow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858000" cy="393192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Dashboard hero + live ticker]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28800"/>
            <a:ext cx="3749039" cy="39319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965960"/>
            <a:ext cx="3383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Core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331720"/>
            <a:ext cx="3383279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Ingest transactions (demo seeds + docs)</a:t>
            </a:r>
            <a:br/>
            <a:r>
              <a:t>• Score &amp; explain risk (12 phases)</a:t>
            </a:r>
            <a:br/>
            <a:r>
              <a:t>• Narrate insights (grounded LLM)</a:t>
            </a:r>
            <a:br/>
            <a:r>
              <a:t>• Plan festivals, EMIs, purchases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A→R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One app. Every feature a judge can click.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Workspace · AI Intelligence · Financial OS ·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79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39"/>
            <a:ext cx="233172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Health score, anomalies, ticker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74519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11679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39"/>
            <a:ext cx="233172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Filters, categories, 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74519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79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AI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39"/>
            <a:ext cx="233172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Chat + monthly narrative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74519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79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Subscriptions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377439"/>
            <a:ext cx="233172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Graveyard + device 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2336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FraudShield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233172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12 phases + pre-send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02336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1605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Dark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26280"/>
            <a:ext cx="233172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Billing traps detector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02336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605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EMI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80"/>
            <a:ext cx="233172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RBI-style DTI bands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02336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1605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Festivals / Purchase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526280"/>
            <a:ext cx="233172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Indian context planners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S→T→A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FraudShield: not ChatGPT with a shield 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4 ML models · rules · LLM investigator · orchestrator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3317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fraud-xgboost-v0</a:t>
            </a:r>
            <a:br/>
            <a:r>
              <a:t>• Production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23317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Anomaly tier-1</a:t>
            </a:r>
            <a:br/>
            <a:r>
              <a:t>• Unsupervised flags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GraphSAGE GNN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23317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64-dim user embeddings</a:t>
            </a:r>
            <a:br/>
            <a:r>
              <a:t>• Phase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96596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Calibri"/>
              </a:defRPr>
            </a:pPr>
            <a:r>
              <a:t>Multi-branch DNN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331720"/>
            <a:ext cx="23317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Shadow → promotion</a:t>
            </a:r>
            <a:br/>
            <a:r>
              <a:t>• Phase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Training data: analyst labels + RBI-style fraud taxonomy + synthetic UPI patterns (lottery, KYC, collect scams) — not generic LLM knowledge.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9204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892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FraudShield overview / phase rail]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Answers: 'Isn't this just ChatGPT?' — No. Scores come from XGBoost + graph + rules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12-phase pipeline: event → score → explain →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Sub-50ms auto-score · manual pre-send check uses same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207568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" y="237744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2219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196596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207568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6" y="237744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2219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3944" y="196596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6" y="207568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237744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2219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0176" y="196596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207568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37744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22219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36408" y="196596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07568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37744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MLOps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22219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96596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207568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4" y="237744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97180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08152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" y="338328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SHAP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2848" y="322783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67712" y="297180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40864" y="308152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2576" y="338328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322783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23944" y="297180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97096" y="308152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8808" y="338328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LLM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322783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0176" y="297180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53328" y="308152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38328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544" y="322783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36408" y="297180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308152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2" y="338328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DNN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7776" y="322783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92640" y="2971800"/>
            <a:ext cx="1783080" cy="77724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65792" y="3081528"/>
            <a:ext cx="1636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47504" y="3383280"/>
            <a:ext cx="1673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3977639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114799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Calibri"/>
              </a:defRPr>
            </a:pPr>
            <a:r>
              <a:t>Pre-send check 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4480559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User enters amount + VPA/merchant</a:t>
            </a:r>
            <a:br/>
            <a:r>
              <a:t>• Feature store + XGBoost + policies</a:t>
            </a:r>
            <a:br/>
            <a:r>
              <a:t>• Verdict: Safe / Review / Do not proceed</a:t>
            </a:r>
            <a:br/>
            <a:r>
              <a:t>• Quick tests: ₹1 trap, lottery, KYC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3977639"/>
            <a:ext cx="5212080" cy="196596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7320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Transaction checker verdict]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T→A→R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Insights: grounded chat, zero invented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Context packet from PostgreSQL — Groq/OpenAI with fallbacks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66344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build_context_packet(): profile, accounts, 50 recent txns</a:t>
            </a:r>
            <a:br/>
            <a:r>
              <a:t>• System prompt forbids inventing amounts</a:t>
            </a:r>
            <a:br/>
            <a:r>
              <a:t>• Routes user to EMI, Fraud, Subscriptions tabs</a:t>
            </a:r>
            <a:br/>
            <a:r>
              <a:t>• Hindi or English — same data layer</a:t>
            </a:r>
            <a:br/>
            <a:r>
              <a:t>• Monthly insights card: JSON from real aggregates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5669280" cy="411480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36576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AI Insights chat + CHIPS follow-ups]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S→T→A→R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Subscriptions AI: find money leaking in the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Connect flow → Hub → AI Analysis → Smart Reminders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Recurring UPI mandates</a:t>
            </a:r>
            <a:br/>
            <a:r>
              <a:t>• Forgotten trials after festivals</a:t>
            </a:r>
            <a:br/>
            <a:r>
              <a:t>• Duplicate OTT + cloud bills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3200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Device-link onboarding</a:t>
            </a:r>
            <a:br/>
            <a:r>
              <a:t>• Subscription graveyard detection</a:t>
            </a:r>
            <a:br/>
            <a:r>
              <a:t>• Usage vs spend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3200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Recover ₹/month from unused subs</a:t>
            </a:r>
            <a:br/>
            <a:r>
              <a:t>• Proactive cancel reminders</a:t>
            </a:r>
            <a:br/>
            <a:r>
              <a:t>• Tied to JWT user — no cross-user leak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Subscription Hub]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A→R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Dark Patterns + EMI Trap + Health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Rules + ML — protecting against product tricks and debt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57784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Calibri"/>
              </a:defRPr>
            </a:pPr>
            <a:r>
              <a:t>Dark Pattern 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21208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Rupee-trap pricing, hidden renewals, escalation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57784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EMI Trap 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521208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Debt-to-income vs RBI-style safe band; warn before over-leverage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77639"/>
            <a:ext cx="557784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79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Health Score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80559"/>
            <a:ext cx="521208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Savings rate, anomalies, grade breakdown on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77639"/>
            <a:ext cx="5577840" cy="1874519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1479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Scenario 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80559"/>
            <a:ext cx="5212080" cy="1280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What-if projections on savings and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A→R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Planning for Indian life: festivals, goals,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Context competitors ignore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Festival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0040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Upcoming Diwali, Holi, etc.</a:t>
            </a:r>
            <a:br/>
            <a:r>
              <a:t>• Savings targets per event</a:t>
            </a:r>
            <a:br/>
            <a:r>
              <a:t>• Urgency strip on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Purchase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31720"/>
            <a:ext cx="320040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Goal milestones</a:t>
            </a:r>
            <a:br/>
            <a:r>
              <a:t>• EMI vs cash tradeoff</a:t>
            </a:r>
            <a:br/>
            <a:r>
              <a:t>• Sacrifice hints from spend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566160" cy="384048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Trips &amp; Family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31720"/>
            <a:ext cx="320040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Shared event budgets</a:t>
            </a:r>
            <a:br/>
            <a:r>
              <a:t>• Family head persona fit</a:t>
            </a:r>
            <a:br/>
            <a:r>
              <a:t>• Linked to transaction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520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Festival or Purchase planner]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Architecture: production-shaped, hackathon-fast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Privacy: PII stays in user's DB row — context packet minimizes exposure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200400" cy="105156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React 18 CRA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240280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Dashboard, FraudShield, Command Palette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200400" cy="105156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93852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9664" y="2240280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50+ routes, Swagger /docs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3200400" cy="105156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93852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384" y="2240280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Transactions, fraud labels, chat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3200400" cy="105156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31012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11880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Streams, feature store, GNN embeddings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200400"/>
            <a:ext cx="3200400" cy="105156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331012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MLflow + 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9664" y="3611880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Registry, PSI drift, retrain scheduler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200400"/>
            <a:ext cx="3200400" cy="1051560"/>
          </a:xfrm>
          <a:prstGeom prst="roundRect">
            <a:avLst>
              <a:gd name="adj" fmla="val 5000"/>
            </a:avLst>
          </a:prstGeom>
          <a:solidFill>
            <a:srgbClr val="1510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3310128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Groq / OpenAI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4" y="3611880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Investigator + chat (optional keys)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API: POST /api/fraud-shield/{user}/check-transaction · GET /api/insights · POST /api/ai/chat (SSE)</a:t>
            </a:r>
            <a:br/>
            <a:r>
              <a:t>Orchestrator tiers 0–3: XGBoost only → +anomaly → +GNN → +LLM judge (cost-aware routing)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PII: training uses aggregated features; chat never sees raw card numbers.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this isn't just another fintech wrapper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577840" cy="196596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Multi-model AI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XGBoost + DNN + GNN + orchestrator — not a single LLM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5577840" cy="196596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India-specific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31720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UPI patterns, festival cycles, RBI fraud taxonomy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69080"/>
            <a:ext cx="5577840" cy="196596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Behavioral graph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GraphSAGE learns embeddings from transaction relationships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069080"/>
            <a:ext cx="5577840" cy="196596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2062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Calibri"/>
              </a:defRPr>
            </a:pPr>
            <a:r>
              <a:t>Zero-hallucination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72000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• Every number traceable to a transaction row in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Real model performance, 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fraud-xgboost-v0 · trained ~4 days ago · Production in MLflow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0.933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Fraud classifier discrimination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PR-AUC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06B6D4"/>
                </a:solidFill>
                <a:latin typeface="Calibri"/>
              </a:defRPr>
            </a:pPr>
            <a:r>
              <a:t>0.037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Realistic for class-imbalanced fraud — we report honestly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82880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65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Recall @ 5% FPR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71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Half of fraud caught; only 5% false alarms on normals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Val AUCPR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EC4899"/>
                </a:solidFill>
                <a:latin typeface="Calibri"/>
              </a:defRPr>
            </a:pPr>
            <a:r>
              <a:t>1.000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Internal validation split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947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519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0.050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37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Stable — no model drift detected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7947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Model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2519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43F5E"/>
                </a:solidFill>
                <a:latin typeface="Calibri"/>
              </a:defRPr>
            </a:pPr>
            <a:r>
              <a:t>fraud-xgboost-v0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937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4 ML models in production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Honest metrics. We're not hiding behind accuracy numbers.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A→R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Designed like a product, not a hackathon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#0A0612 · purple accent only — never purple body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20440" cy="320040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Premium dark dashboard]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520440" cy="320040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32004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Live transaction ticker]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828800"/>
            <a:ext cx="3520440" cy="3200400"/>
          </a:xfrm>
          <a:prstGeom prst="roundRect">
            <a:avLst>
              <a:gd name="adj" fmla="val 8000"/>
            </a:avLst>
          </a:prstGeom>
          <a:solidFill>
            <a:srgbClr val="0F0A1F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20040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[INSERT SCREENSHOT: FraudShield quick-test]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9CA3AF"/>
                </a:solidFill>
                <a:latin typeface="Calibri"/>
              </a:defRPr>
            </a:pPr>
            <a:r>
              <a:t>Built with the rigor of Stripe, Mercury, Linear — users won't trust an app that doesn't look trustworthy.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S→R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Built for 800 million Indian digital banking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Three personas — each with a full STAR arc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Vikram, 26 — Young professional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S: UPI-native, 6 subscriptions, scam DMs daily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39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T: Know if payment is safe before sending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A: FraudShield pre-send + subscription graveyard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R: Confident payments; ₹800/mo subs recovered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Priya, 38 — Family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S: Festival + EMI + kids' school fees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91839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T: Household budget without spreadsheet pain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A: Festival planner, EMI trap, family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R: Health score 72→85; no surprise festival debt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82880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9659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Arjun, 22 — First-time investor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2316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S: Scams target newcomers; low literacy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291839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T: Learn + protect without jargon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16052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A: AI Insights chat + dark pattern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5029200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R: Grounded answers; avoided ₹1 trial trap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R →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12 phases shipped. 8 more to 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Calibri"/>
              </a:defRPr>
            </a:pPr>
            <a:r>
              <a:t>Business: B2B FraudShield API + Pro 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64592" cy="6858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20240"/>
            <a:ext cx="8412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ML stack live · dashboard · fraud scanner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164592" cy="68580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971800"/>
            <a:ext cx="8412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Account Aggregator bank link · iOS/Android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164592" cy="6858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023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023360"/>
            <a:ext cx="8412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Investment health AI · tax optimization · joint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64592" cy="685800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749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Calibri"/>
              </a:defRPr>
            </a:pPr>
            <a:r>
              <a:t>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074920"/>
            <a:ext cx="8412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Open API — fintechs embed FraudShield as a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STAR ·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SmartSpend isn't a finance app. It's financial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Calibri"/>
              </a:defRPr>
            </a:pPr>
            <a:r>
              <a:t>Indian fintech needs AI built for Indian problems. We built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D1D5DB"/>
                </a:solidFill>
                <a:latin typeface="Calibri"/>
              </a:defRPr>
            </a:pPr>
            <a:r>
              <a:t>12-phase fraud pipeline · 4 ML models · Grounded AI chat · One dark, trustworthy UX</a:t>
            </a:r>
            <a:br/>
            <a:r>
              <a:t>Pre-send protection · Subscription intelligence · Festival-aware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526280"/>
            <a:ext cx="2103120" cy="2103120"/>
          </a:xfrm>
          <a:prstGeom prst="roundRect">
            <a:avLst>
              <a:gd name="adj" fmla="val 8000"/>
            </a:avLst>
          </a:prstGeom>
          <a:solidFill>
            <a:srgbClr val="15102A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507492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[QR CODE]</a:t>
            </a:r>
            <a:br/>
            <a:r>
              <a:t>Demo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Try now:</a:t>
            </a:r>
            <a:br/>
            <a:r>
              <a:t>http://localhost:3000</a:t>
            </a:r>
            <a:br/>
            <a:r>
              <a:t>API: :8000/docs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70916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Team: [Your Names]</a:t>
            </a:r>
            <a:br/>
            <a:r>
              <a:t>[email] · [GitHub]</a:t>
            </a:r>
            <a:br/>
            <a:r>
              <a:t>Built for [Hackathon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12 phases. 4 ML models in production. 1 unified user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